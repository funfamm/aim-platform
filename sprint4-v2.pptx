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731520"/>
            <a:ext cx="36576" cy="16459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 STUDIO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Media, Infrastructure &amp; Global Reach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68680" y="2971800"/>
            <a:ext cx="365760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2004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7, 2026  •  Sprint Review Presentation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Modules → Production Infrastructure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 SPRINT AT A GLANCE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4 Delivered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weeks of infrastructure hardening, media pipeline engineering, and global localization preparing AIM Studio for real-world scale.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264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735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Since Sprint 3 delivery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77K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246120" y="3017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LINES ADDED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46120" y="32735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413 files changed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5852160" y="3017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MODELS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32735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298 source files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58200" y="2286000"/>
            <a:ext cx="2377440" cy="1325880"/>
          </a:xfrm>
          <a:prstGeom prst="rect">
            <a:avLst>
              <a:gd name="adj" fmla="val 827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58200" y="24688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458200" y="30175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58200" y="327355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platform coverage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Render → Vercel migration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93192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 15-min token rotation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4023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☁️ R2 presigned uploads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✉️ Email tracking &amp; analytics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93192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AI key pool management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11-language i18n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  PLATFORM MIGRATION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→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Migrated the entire deployment pipeline from Render to Vercel the native hosting platform for Next.js delivering faster builds, global edge CDN, and zero-config deployments.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4389120" cy="3200400"/>
          </a:xfrm>
          <a:prstGeom prst="rect">
            <a:avLst>
              <a:gd name="adj" fmla="val 342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🔴  </a:t>
            </a:r>
            <a:pPr indent="0" marL="0">
              <a:buNone/>
            </a:pPr>
            <a:r>
              <a:rPr lang="en-US" sz="1600" b="1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(Before)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Dockerfiles for Next.js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Single-region deployment (US-East)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0273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SSL &amp; domain config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9867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caching issues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3708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413 errors on media uploads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Cold starts on serverless functions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3291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943600" y="2194560"/>
            <a:ext cx="4572000" cy="3200400"/>
          </a:xfrm>
          <a:prstGeom prst="rect">
            <a:avLst>
              <a:gd name="adj" fmla="val 3429"/>
            </a:avLst>
          </a:prstGeom>
          <a:solidFill>
            <a:srgbClr val="111118"/>
          </a:solidFill>
          <a:ln w="10160">
            <a:solidFill>
              <a:srgbClr val="1A3A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🟢  </a:t>
            </a:r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(After)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Next.js framework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2186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Edge Network (30+ regions)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36027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SSL + custom domains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9867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Incremental builds under 60s deploys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437083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presigned URLs bypass size limits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4754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cold starts with edge functions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  SECURITY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15-Minute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 Rotation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Short-lived access tokens with automatic refresh every session token expires after 15 minutes and is silently rotated, preventing session hijacking and replay attacks.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2011680" cy="1188720"/>
          </a:xfrm>
          <a:prstGeom prst="rect">
            <a:avLst>
              <a:gd name="adj" fmla="val 7692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Login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Credentials verified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0" y="2377440"/>
            <a:ext cx="2011680" cy="1188720"/>
          </a:xfrm>
          <a:prstGeom prst="rect">
            <a:avLst>
              <a:gd name="adj" fmla="val 7692"/>
            </a:avLst>
          </a:prstGeom>
          <a:solidFill>
            <a:srgbClr val="111118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🎫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Token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3063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 TTL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377440"/>
            <a:ext cx="2011680" cy="1188720"/>
          </a:xfrm>
          <a:prstGeom prst="rect">
            <a:avLst>
              <a:gd name="adj" fmla="val 7692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02920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Token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063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Long-lived, rotated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2377440"/>
            <a:ext cx="2011680" cy="1188720"/>
          </a:xfrm>
          <a:prstGeom prst="rect">
            <a:avLst>
              <a:gd name="adj" fmla="val 7692"/>
            </a:avLst>
          </a:prstGeom>
          <a:solidFill>
            <a:srgbClr val="11111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0" y="24231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315200" y="2788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Silent Refresh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0" y="3063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to user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53"/>
                </a:solidFill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53"/>
                </a:solidFill>
              </a:rPr>
              <a:t>→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40880" y="26974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4A853"/>
                </a:solidFill>
              </a:rPr>
              <a:t>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tokens expire every 900 seconds cannot be reused after window closes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413308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endpoint (/api/auth/refresh) issues new pair without re-login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451713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verification tokens also expire at 15 minutes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90118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Tested with unit tests confirming exact 900-second TTL enforcement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  MEDIA PIPELINE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Uploads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Replaced the server-relay upload model with presigned URL uploads directly to Cloudflare R2 eliminating Vercel's 4.5MB serverless body limit and enabling large media file handling.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Browser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Selects files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5176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5176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Route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presigned URL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02920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D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Cloudflare R2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PUT upload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406640" y="2286000"/>
            <a:ext cx="2103120" cy="1005840"/>
          </a:xfrm>
          <a:prstGeom prst="rect">
            <a:avLst>
              <a:gd name="adj" fmla="val 9091"/>
            </a:avLst>
          </a:prstGeom>
          <a:solidFill>
            <a:srgbClr val="111118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0664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406640" y="26517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 Delivery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06640" y="28803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r2.impactaistudio.com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33172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0916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866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853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" y="3657600"/>
            <a:ext cx="3108960" cy="1371600"/>
          </a:xfrm>
          <a:prstGeom prst="rect">
            <a:avLst>
              <a:gd name="adj" fmla="val 8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960" y="4096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413 Errors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4389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never touches file bytes presigned URL bypasses all body size limits.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77640" y="3657600"/>
            <a:ext cx="3108960" cy="1371600"/>
          </a:xfrm>
          <a:prstGeom prst="rect">
            <a:avLst>
              <a:gd name="adj" fmla="val 8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6052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160520" y="4096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Casting Applications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160520" y="4389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Headshots, demos, portfolios uploaded directly from the casting form.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15200" y="3657600"/>
            <a:ext cx="3108960" cy="1371600"/>
          </a:xfrm>
          <a:prstGeom prst="rect">
            <a:avLst>
              <a:gd name="adj" fmla="val 8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498080" y="40965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by Design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98080" y="43891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Presigned URLs expire in 60 seconds. File type &amp; size validated server-side.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 INTERNATIONALIZATION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Languages,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i18n coverage across the entire platform using next-intl with a deep-merge locale loading strategy every page, form, notification, and email template is translated.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🇬🇧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33172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🇫🇷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3172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Français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French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02336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🇪🇸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2336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Español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2336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Spanish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71500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🇩🇪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1500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Deutsch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German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40664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🇵🇹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0664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Português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0664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Portuguese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9098280" y="224028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98280" y="2286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🇸🇦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98280" y="256032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العربية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098280" y="274320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Arabic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4008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🇮🇳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008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हिन्दी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Hindi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33172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3172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🇨🇳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233172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中文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33172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Chinese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02336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2336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🇯🇵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02336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日本語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02336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Japanese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571500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🇰🇷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71500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한국어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1500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Korean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406640" y="3108960"/>
            <a:ext cx="1508760" cy="73152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315468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🇷🇺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06640" y="342900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Русский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06640" y="36118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Russian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40080" y="420624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Deep-merge strategy: page-level keys auto-merge with root translations no key collisions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0080" y="459028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page, casting form, notification preferences, dashboard all fully translated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40080" y="497433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emails render in the user's detected locale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640080" y="535838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RTL support for Arabic layout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 AI INFRASTRUCTURE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Key 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Production-grade API key pool router with automatic error recovery, cooldown management, and real-time health monitoring.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Auto-Recovery Pool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Gemini keys rotate automatically. Rate-limited keys cool down for 65s, connection errors for 5 min then auto-rejoin the pool.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🚦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06440" y="2587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 Status Badges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0" y="2880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admin dashboard shows 🟢 Healthy, 🟡 Recovering, or 🔴 Cooling Down with countdown timers and error details.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370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Routing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Keys assigned per-agent (audit, analytics, casting). Pool selects the least-recently-used healthy key automatically.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06440" y="4370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Analytics Console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46634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Voice-enabled AI insights with conversational follow-up. Generates 5-7 actionable recommendations from live platform data.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✉️  COMMUNICATIONS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Delivery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Dual-transport email system (Microsoft Graph + SMTP) with delivery logging, retry logic, and a full analytics panel.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310896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 + SMTP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DUAL TRANSPORT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2735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Configurable per admin settings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77640" y="2286000"/>
            <a:ext cx="310896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3x Retry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977640" y="3017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EXPONENTIAL BACKOFF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77640" y="32735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 → 2s → 4s automatic retries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310896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46888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0A5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Types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7315200" y="30175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AUTO-CATEGORIZED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327355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· App · Notify · Sub · General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84048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outgoing email logged to EmailLog table recipient, subject, transport, success/failure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22452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analytics panel: delivery rate badge, monthly volume, failure count, type breakdown chart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60857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Localized email templates Welcome, Verification, Application Status render in user's language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  ANALYTICS &amp; MONITORING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 Center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admin analytics dashboard with live visitor tracking, AI-powered insights, voice conversation mode, casting funnel, and system health monitoring.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2587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Studio Pulse vitality score, live visitor count, page views, user growth, and casting conversion rates auto-refreshing every 30 seconds.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23560" y="214884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22402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06440" y="258775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AI Insights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0" y="28803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AI-powered insights from live data. Voice conversation mode lets you ask follow-up questions with TTS responses.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4370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Casting Funnel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funnel: Page Views → Applications → Reviewed. Live conversion rate tracking shows casting page effectiveness.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23560" y="3931920"/>
            <a:ext cx="4754880" cy="1554480"/>
          </a:xfrm>
          <a:prstGeom prst="rect">
            <a:avLst>
              <a:gd name="adj" fmla="val 705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06440" y="43708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Health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806440" y="46634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latency, memory usage, service status, hourly heatmaps, device breakdown, referrer sources full observability.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🎥  LIVE DEMO POINTS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Can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feature in this sprint is deployed and can be demonstrated live on the production platform.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754880" cy="3017520"/>
          </a:xfrm>
          <a:prstGeom prst="rect">
            <a:avLst>
              <a:gd name="adj" fmla="val 3636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  Public-Facing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language on any page all 11 render live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8269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Submit a casting application with media uploads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36850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PayPal donation flow sandbox or live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0873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&amp; Works page premium redesign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48970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OAuth sign-in with token refresh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23560" y="2286000"/>
            <a:ext cx="4754880" cy="3200400"/>
          </a:xfrm>
          <a:prstGeom prst="rect">
            <a:avLst>
              <a:gd name="adj" fmla="val 3429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Admin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897880" y="28803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Command Center with live stats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897880" y="328269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Insights generation + voice mode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97880" y="368503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health badges (Healthy/Recovering/Cooling)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97880" y="408736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delivery panel volume, failures, types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97880" y="4489704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Trailer &amp; subscriber tracking cards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 REFLECTIONS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 pushed into production infrastructure territory every challenge taught a principle I'll carry forward.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45720" cy="1188720"/>
          </a:xfrm>
          <a:prstGeom prst="rect">
            <a:avLst>
              <a:gd name="adj" fmla="val 40000"/>
            </a:avLst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42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Right Platform for Your Stack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is solid, but Next.js is a first-class citizen on Vercel native ISR, edge functions, preview deploys. Don't fight your framework.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210312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2103120"/>
            <a:ext cx="45720" cy="1188720"/>
          </a:xfrm>
          <a:prstGeom prst="rect">
            <a:avLst>
              <a:gd name="adj" fmla="val 40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2194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06440" y="25420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 Architecture, Not a Feature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06440" y="2834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15-min token rotation added complexity, but prevents session hijacking. Design security upfront, not as an afterthought.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429000"/>
            <a:ext cx="45720" cy="1188720"/>
          </a:xfrm>
          <a:prstGeom prst="rect">
            <a:avLst>
              <a:gd name="adj" fmla="val 40000"/>
            </a:avLst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38679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Relay Files Through Your Server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Presigned URLs let the client upload directly to R2 storage shortest path for bytes eliminates size limits and latency.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23560" y="342900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23560" y="3429000"/>
            <a:ext cx="45720" cy="1188720"/>
          </a:xfrm>
          <a:prstGeom prst="rect">
            <a:avLst>
              <a:gd name="adj" fmla="val 40000"/>
            </a:avLst>
          </a:prstGeom>
          <a:solidFill>
            <a:srgbClr val="A78BFA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3520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806440" y="386791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i18n Must Be Structural, Not Cosmetic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4160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Deep-merge locale strategy prevents key collisions. Plan translation key structure before writing UI components.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75488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54880"/>
            <a:ext cx="45720" cy="1188720"/>
          </a:xfrm>
          <a:prstGeom prst="rect">
            <a:avLst>
              <a:gd name="adj" fmla="val 40000"/>
            </a:avLst>
          </a:prstGeom>
          <a:solidFill>
            <a:srgbClr val="FBBF24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22960" y="5193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Can't See It, You Can't Fix It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486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 logs, API key health badges, delivery rates observability isn't optional. Instrument everything from day one.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623560" y="4754880"/>
            <a:ext cx="4754880" cy="1188720"/>
          </a:xfrm>
          <a:prstGeom prst="rect">
            <a:avLst>
              <a:gd name="adj" fmla="val 9231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23560" y="4754880"/>
            <a:ext cx="45720" cy="1188720"/>
          </a:xfrm>
          <a:prstGeom prst="rect">
            <a:avLst>
              <a:gd name="adj" fmla="val 40000"/>
            </a:avLst>
          </a:prstGeom>
          <a:solidFill>
            <a:srgbClr val="F87171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806440" y="51937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ORM's Deployment Model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06440" y="54864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 db push vs prisma migrate work differently in dev vs production. Understanding each prevents deployment failures.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🗺️  SPRINT 5 ROADMAP WHAT'S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Audit + </a:t>
            </a:r>
            <a:pPr indent="0" marL="0">
              <a:lnSpc>
                <a:spcPct val="100000"/>
              </a:lnSpc>
              <a:buNone/>
            </a:pPr>
            <a:r>
              <a:rPr lang="en-US" sz="4000" b="1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Bug Fixes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98755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560320"/>
                <a:gridCol w="60350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4A8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Priority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A8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4A85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Description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HIGH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Complete Frontend Audit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Page-by-page review of every route, form, and component across all 11 locales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717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🔴 HIGH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Bug Fixing &amp; Regression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Resolve all UI/UX issues, broken flows, and edge cases found during audit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 Profiling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Lighthouse audits, Core Web Vitals, bundle size analysis, lazy loading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🟡 MEDIUM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Cross-Browser Testing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Verify all features on Chrome, Safari, Firefox, and mobile browsers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0A5FA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🔵 LOW</a:t>
                      </a:r>
                      <a:endParaRPr lang="en-US" sz="11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8E8E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Domain Launch Prep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B8B9E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Final DNS setup, SEO meta tags, Open Graph images, production domain cutover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1C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846320"/>
            <a:ext cx="1828800" cy="914400"/>
          </a:xfrm>
          <a:prstGeom prst="rect">
            <a:avLst>
              <a:gd name="adj" fmla="val 10000"/>
            </a:avLst>
          </a:prstGeom>
          <a:solidFill>
            <a:srgbClr val="0F2A20"/>
          </a:solidFill>
          <a:ln w="6350">
            <a:solidFill>
              <a:srgbClr val="1A3A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919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057400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15184" y="4846320"/>
            <a:ext cx="1828800" cy="914400"/>
          </a:xfrm>
          <a:prstGeom prst="rect">
            <a:avLst>
              <a:gd name="adj" fmla="val 10000"/>
            </a:avLst>
          </a:prstGeom>
          <a:solidFill>
            <a:srgbClr val="0F2A20"/>
          </a:solidFill>
          <a:ln w="6350">
            <a:solidFill>
              <a:srgbClr val="1A3A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15184" y="4919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15184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+ Security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32504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90288" y="4846320"/>
            <a:ext cx="1828800" cy="914400"/>
          </a:xfrm>
          <a:prstGeom prst="rect">
            <a:avLst>
              <a:gd name="adj" fmla="val 10000"/>
            </a:avLst>
          </a:prstGeom>
          <a:solidFill>
            <a:srgbClr val="0F2A20"/>
          </a:solidFill>
          <a:ln w="6350">
            <a:solidFill>
              <a:srgbClr val="1A3A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90288" y="4919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90288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Modules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007608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565392" y="4846320"/>
            <a:ext cx="1828800" cy="914400"/>
          </a:xfrm>
          <a:prstGeom prst="rect">
            <a:avLst>
              <a:gd name="adj" fmla="val 10000"/>
            </a:avLst>
          </a:prstGeom>
          <a:solidFill>
            <a:srgbClr val="2A2210"/>
          </a:solidFill>
          <a:ln w="15240">
            <a:solidFill>
              <a:srgbClr val="D4A85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565392" y="4919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565392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+ Deploy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982712" y="486460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✅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540496" y="4846320"/>
            <a:ext cx="1828800" cy="914400"/>
          </a:xfrm>
          <a:prstGeom prst="rect">
            <a:avLst>
              <a:gd name="adj" fmla="val 10000"/>
            </a:avLst>
          </a:prstGeom>
          <a:solidFill>
            <a:srgbClr val="111118"/>
          </a:solidFill>
          <a:ln w="6350">
            <a:solidFill>
              <a:srgbClr val="1C1C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540496" y="491947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5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540496" y="5257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+ Fixes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188720"/>
            <a:ext cx="1219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🎬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0" y="20116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D4A85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 STUDIO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2423160"/>
            <a:ext cx="1219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8E8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114800" y="3291840"/>
            <a:ext cx="3840480" cy="27432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47472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4 Media, Infrastructure &amp; Global Reach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393192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B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264 commits  ·  77K lines  ·  42 models  ·  11 languages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480560"/>
            <a:ext cx="1219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impactaistudio.com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0" y="6263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4A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 Studio Sprint 4: Media, Infrastructure &amp; Global Reach</dc:title>
  <dc:subject>Sprint 4 Review</dc:subject>
  <dc:creator>AIM Studio</dc:creator>
  <cp:lastModifiedBy>AIM Studio</cp:lastModifiedBy>
  <cp:revision>1</cp:revision>
  <dcterms:created xsi:type="dcterms:W3CDTF">2026-04-07T16:38:02Z</dcterms:created>
  <dcterms:modified xsi:type="dcterms:W3CDTF">2026-04-07T16:38:02Z</dcterms:modified>
</cp:coreProperties>
</file>